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9" r:id="rId4"/>
    <p:sldId id="260" r:id="rId5"/>
    <p:sldId id="261" r:id="rId6"/>
    <p:sldId id="265" r:id="rId7"/>
    <p:sldId id="267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7BA60-150D-C584-B42C-B028E08C2E42}" v="263" dt="2025-12-04T17:02:40.516"/>
    <p1510:client id="{BD3E5557-6B34-E562-09B3-050069C1E0A1}" v="26" dt="2025-12-04T17:11:48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7041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468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8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1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5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6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5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516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3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0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5400" err="1"/>
              <a:t>Gaussian</a:t>
            </a:r>
            <a:r>
              <a:rPr lang="pl-PL" sz="5400"/>
              <a:t> </a:t>
            </a:r>
            <a:r>
              <a:rPr lang="pl-PL" sz="5400" err="1"/>
              <a:t>Mixture</a:t>
            </a:r>
            <a:r>
              <a:rPr lang="pl-PL" sz="5400"/>
              <a:t> Model (GMM)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Krzysztof Podoba</a:t>
            </a:r>
            <a:br>
              <a:rPr lang="pl-PL"/>
            </a:br>
            <a:r>
              <a:rPr lang="pl-PL"/>
              <a:t>Szymon Smoła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572F8-B5A8-7037-BF9D-52C73925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690425" cy="1363344"/>
          </a:xfrm>
        </p:spPr>
        <p:txBody>
          <a:bodyPr>
            <a:normAutofit fontScale="90000"/>
          </a:bodyPr>
          <a:lstStyle/>
          <a:p>
            <a:r>
              <a:rPr lang="pl-PL" sz="4000" b="1" i="1"/>
              <a:t>Czym jest klasteryzacja</a:t>
            </a:r>
            <a:r>
              <a:rPr lang="pl-PL" sz="3200" b="1" i="1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97A72-6252-54BC-0385-A00257158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31" y="2325157"/>
            <a:ext cx="5877033" cy="38549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l-PL" sz="2400">
                <a:ea typeface="+mn-lt"/>
                <a:cs typeface="+mn-lt"/>
              </a:rPr>
              <a:t>Klasteryzacja to technika uczenia nienadzorowanego, która grupuje podobne obiekty w klastry – tak, aby elementy w tej samej grupie były do siebie bardziej podobne niż do elementów z innych grup.</a:t>
            </a:r>
            <a:endParaRPr lang="en-US" sz="2400">
              <a:ea typeface="+mn-lt"/>
              <a:cs typeface="+mn-lt"/>
            </a:endParaRPr>
          </a:p>
        </p:txBody>
      </p:sp>
      <p:pic>
        <p:nvPicPr>
          <p:cNvPr id="5" name="Graphic 4" descr="Cluster analysis - Wikipedia">
            <a:extLst>
              <a:ext uri="{FF2B5EF4-FFF2-40B4-BE49-F238E27FC236}">
                <a16:creationId xmlns:a16="http://schemas.microsoft.com/office/drawing/2014/main" id="{4E35D167-79DE-51AD-643E-5EB0E618F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860" y="1717738"/>
            <a:ext cx="5073476" cy="345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6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8E15C-5CC1-9704-8701-7AC082B4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D321-0F54-1FCD-7DE6-55683BD8A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>
            <a:noAutofit/>
          </a:bodyPr>
          <a:lstStyle/>
          <a:p>
            <a:r>
              <a:rPr lang="pl-PL" sz="3600" b="1" i="1" noProof="1"/>
              <a:t>Czym jest Gaussian Mixture Model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5F9F3-7512-8570-A7C1-A16977CD2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74" y="2325158"/>
            <a:ext cx="4534048" cy="38549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pl-PL" noProof="1">
                <a:ea typeface="+mn-lt"/>
                <a:cs typeface="+mn-lt"/>
              </a:rPr>
              <a:t>Gaussian Mixture Model (GMM) to probabilistyczna metoda klasteryzacji, która zakłada, że dane pochodzą z mieszaniny kilku rozkładów Gaussa.</a:t>
            </a:r>
            <a:endParaRPr lang="en-US">
              <a:ea typeface="+mn-lt"/>
              <a:cs typeface="+mn-lt"/>
            </a:endParaRPr>
          </a:p>
          <a:p>
            <a:pPr algn="just">
              <a:buNone/>
            </a:pPr>
            <a:r>
              <a:rPr lang="pl-PL" noProof="1">
                <a:ea typeface="+mn-lt"/>
                <a:cs typeface="+mn-lt"/>
              </a:rPr>
              <a:t>W odróżnieniu od K-Means, który przypisuje punkt do jednego klastru „na sztywno”, GMM oblicza prawdopodobieństwo przynależności do każdego klastru.</a:t>
            </a:r>
            <a:endParaRPr lang="pl-PL">
              <a:ea typeface="+mn-lt"/>
              <a:cs typeface="+mn-lt"/>
            </a:endParaRPr>
          </a:p>
          <a:p>
            <a:pPr algn="just">
              <a:buNone/>
            </a:pPr>
            <a:r>
              <a:rPr lang="pl-PL" noProof="1">
                <a:ea typeface="+mn-lt"/>
                <a:cs typeface="+mn-lt"/>
              </a:rPr>
              <a:t>Dzięki temu lepiej radzi sobie z klastrami o różnych kształtach, rozmiarach i orientacji.</a:t>
            </a:r>
            <a:endParaRPr lang="pl-PL">
              <a:ea typeface="+mn-lt"/>
              <a:cs typeface="+mn-lt"/>
            </a:endParaRPr>
          </a:p>
        </p:txBody>
      </p:sp>
      <p:pic>
        <p:nvPicPr>
          <p:cNvPr id="4" name="Picture 3" descr="2.1. Gaussian mixture models — scikit-learn 1.7.2 documentation">
            <a:extLst>
              <a:ext uri="{FF2B5EF4-FFF2-40B4-BE49-F238E27FC236}">
                <a16:creationId xmlns:a16="http://schemas.microsoft.com/office/drawing/2014/main" id="{CE61007E-1E34-B85A-3707-7F905298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157" y="824005"/>
            <a:ext cx="5209989" cy="520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68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71F5-7D09-022D-D8FF-81284798D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 b="1" i="1"/>
              <a:t>Jak </a:t>
            </a:r>
            <a:r>
              <a:rPr lang="en-US" b="1" i="1" noProof="1"/>
              <a:t>działa</a:t>
            </a:r>
            <a:r>
              <a:rPr lang="en-US" b="1" i="1"/>
              <a:t> GMM?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07771-4F6B-54BE-34EA-71FECF471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89" y="1933575"/>
            <a:ext cx="5977700" cy="424656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sz="2200" noProof="1">
                <a:ea typeface="+mn-lt"/>
                <a:cs typeface="+mn-lt"/>
              </a:rPr>
              <a:t>Gaussian Mixture Model zakłada, że dane pochodzą z mieszaniny kilku rozkładów Gaussa – każdy odpowiada innemu klastrowi.</a:t>
            </a:r>
            <a:endParaRPr lang="en-US" sz="2200"/>
          </a:p>
          <a:p>
            <a:pPr>
              <a:buNone/>
            </a:pPr>
            <a:r>
              <a:rPr lang="en-US" sz="2200" noProof="1">
                <a:ea typeface="+mn-lt"/>
                <a:cs typeface="+mn-lt"/>
              </a:rPr>
              <a:t>Zamiast przypisywać punkty „na sztywno”, GMM podaje prawdopodobieństwo przynależności do każdego klastra.</a:t>
            </a:r>
            <a:endParaRPr lang="en-US" sz="2200"/>
          </a:p>
          <a:p>
            <a:pPr>
              <a:buNone/>
            </a:pPr>
            <a:r>
              <a:rPr lang="en-US" sz="2200" noProof="1">
                <a:ea typeface="+mn-lt"/>
                <a:cs typeface="+mn-lt"/>
              </a:rPr>
              <a:t>Każdy klaster opisują trzy parametry:</a:t>
            </a:r>
            <a:endParaRPr lang="en-US" sz="2200"/>
          </a:p>
          <a:p>
            <a:pPr>
              <a:buNone/>
            </a:pPr>
            <a:r>
              <a:rPr lang="en-US" sz="2200" noProof="1">
                <a:ea typeface="+mn-lt"/>
                <a:cs typeface="+mn-lt"/>
              </a:rPr>
              <a:t>μ – średnia, czyli położenie środka,</a:t>
            </a:r>
            <a:endParaRPr lang="en-US" sz="2200"/>
          </a:p>
          <a:p>
            <a:pPr>
              <a:buNone/>
            </a:pPr>
            <a:r>
              <a:rPr lang="en-US" sz="2200" noProof="1">
                <a:ea typeface="+mn-lt"/>
                <a:cs typeface="+mn-lt"/>
              </a:rPr>
              <a:t>σ/Σ  – wariancja lub macierz kowariancji, określająca szerokość i kształt rozkładu,</a:t>
            </a:r>
            <a:endParaRPr lang="en-US" sz="2200"/>
          </a:p>
          <a:p>
            <a:pPr>
              <a:buNone/>
            </a:pPr>
            <a:r>
              <a:rPr lang="en-US" sz="2200" noProof="1">
                <a:ea typeface="+mn-lt"/>
                <a:cs typeface="+mn-lt"/>
              </a:rPr>
              <a:t>π – waga, mówiąca jak duża część danych należy do danego komponentu.</a:t>
            </a:r>
            <a:endParaRPr lang="en-US" sz="2200"/>
          </a:p>
          <a:p>
            <a:pPr marL="0" indent="0">
              <a:buNone/>
            </a:pPr>
            <a:r>
              <a:rPr lang="en-US" sz="2200" noProof="1">
                <a:ea typeface="+mn-lt"/>
                <a:cs typeface="+mn-lt"/>
              </a:rPr>
              <a:t>Model pozwala odwzorować klastry o różnych kształtach i szerokościach, tak jak na rysunku z trzema krzywymi Gaussa.</a:t>
            </a:r>
            <a:endParaRPr lang="en-US" sz="2200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86E98D-B492-00F0-1537-6439805DA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780" y="2394493"/>
            <a:ext cx="4807287" cy="257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77F4-73B0-0E7C-9137-AAFB45BCD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773322" cy="1343491"/>
          </a:xfrm>
        </p:spPr>
        <p:txBody>
          <a:bodyPr>
            <a:normAutofit/>
          </a:bodyPr>
          <a:lstStyle/>
          <a:p>
            <a:r>
              <a:rPr lang="en-US" b="1" i="1" noProof="1">
                <a:ea typeface="+mj-lt"/>
                <a:cs typeface="+mj-lt"/>
              </a:rPr>
              <a:t>Algorytm EM (Expectation-Maximization)</a:t>
            </a:r>
            <a:endParaRPr lang="en-US" b="1" i="1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C43F-652D-90B6-763B-FA4BFC7FB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437" y="1828800"/>
            <a:ext cx="5402677" cy="49133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74320" lvl="1" algn="just">
              <a:spcBef>
                <a:spcPts val="1400"/>
              </a:spcBef>
              <a:spcAft>
                <a:spcPts val="200"/>
              </a:spcAft>
              <a:buNone/>
            </a:pPr>
            <a:r>
              <a:rPr lang="pl-PL" sz="2000" spc="10" noProof="1">
                <a:ea typeface="+mn-lt"/>
                <a:cs typeface="+mn-lt"/>
              </a:rPr>
              <a:t>GMM trenuje się za pomocą algorytmu EM, który powtarza dwa kroki:</a:t>
            </a:r>
            <a:endParaRPr lang="en-US" sz="2000">
              <a:ea typeface="+mn-lt"/>
              <a:cs typeface="+mn-lt"/>
            </a:endParaRPr>
          </a:p>
          <a:p>
            <a:pPr lvl="1" algn="just">
              <a:spcBef>
                <a:spcPts val="1400"/>
              </a:spcBef>
              <a:spcAft>
                <a:spcPts val="200"/>
              </a:spcAft>
              <a:buFont typeface="Wingdings 2"/>
              <a:buChar char=""/>
            </a:pPr>
            <a:r>
              <a:rPr lang="pl-PL" sz="2000" b="1" spc="10" noProof="1">
                <a:ea typeface="+mn-lt"/>
                <a:cs typeface="+mn-lt"/>
              </a:rPr>
              <a:t>E-step (Expectation) </a:t>
            </a:r>
            <a:r>
              <a:rPr lang="pl-PL" sz="2000" spc="10" noProof="1">
                <a:ea typeface="+mn-lt"/>
                <a:cs typeface="+mn-lt"/>
              </a:rPr>
              <a:t>- oblicza z jakim prawdopodobieństwem każdy punkt należy do każdego klastra. Punkty nie są przypisane „na sztywno” — mają prawdopodobieństwa γ od 0 do 1.</a:t>
            </a:r>
            <a:br>
              <a:rPr lang="pl-PL" sz="2000" spc="10" noProof="1">
                <a:ea typeface="+mn-lt"/>
                <a:cs typeface="+mn-lt"/>
              </a:rPr>
            </a:br>
            <a:r>
              <a:rPr lang="pl-PL" sz="2000" spc="10" noProof="1">
                <a:ea typeface="+mn-lt"/>
                <a:cs typeface="+mn-lt"/>
              </a:rPr>
              <a:t>Im bliżej centrum klastrów, tym większe prawdopodobieństwo γ.</a:t>
            </a:r>
          </a:p>
          <a:p>
            <a:pPr lvl="1" algn="just">
              <a:spcBef>
                <a:spcPts val="1400"/>
              </a:spcBef>
              <a:spcAft>
                <a:spcPts val="200"/>
              </a:spcAft>
              <a:buFont typeface="Wingdings 2" pitchFamily="34" charset="0"/>
              <a:buChar char=""/>
            </a:pPr>
            <a:r>
              <a:rPr lang="pl-PL" sz="2000" b="1" spc="10" noProof="1">
                <a:ea typeface="+mn-lt"/>
                <a:cs typeface="+mn-lt"/>
              </a:rPr>
              <a:t>M-step (Maximization) </a:t>
            </a:r>
            <a:r>
              <a:rPr lang="pl-PL" sz="2000" spc="10" noProof="1">
                <a:ea typeface="+mn-lt"/>
                <a:cs typeface="+mn-lt"/>
              </a:rPr>
              <a:t>- na tej podstawie aktualizuje parametry: średnie μ, kowariancje Σ i wagi π.</a:t>
            </a:r>
          </a:p>
          <a:p>
            <a:pPr marL="274320" lvl="1" algn="just">
              <a:spcBef>
                <a:spcPts val="1400"/>
              </a:spcBef>
              <a:spcAft>
                <a:spcPts val="200"/>
              </a:spcAft>
              <a:buNone/>
            </a:pPr>
            <a:r>
              <a:rPr lang="pl-PL" sz="2000" spc="10" noProof="1">
                <a:ea typeface="+mn-lt"/>
                <a:cs typeface="+mn-lt"/>
              </a:rPr>
              <a:t>Cykl E-step → M-step powtarza się, aż model się ustabilizuje, czyli parametry przestają się istotnie zmieniać.</a:t>
            </a:r>
            <a:endParaRPr lang="pl-PL" sz="1800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E176D-3137-BFF2-79EE-7A953D577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829" y="2162175"/>
            <a:ext cx="4240627" cy="36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7B8193-0B85-C741-D66C-2EFD4A98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E-step  - </a:t>
            </a:r>
            <a:r>
              <a:rPr lang="pl-PL" dirty="0" err="1"/>
              <a:t>implementcja</a:t>
            </a:r>
          </a:p>
        </p:txBody>
      </p:sp>
      <p:pic>
        <p:nvPicPr>
          <p:cNvPr id="7" name="Symbol zastępczy zawartości 6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D409D0E8-9F0C-0561-D62D-C611B171B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0989" y="2556668"/>
            <a:ext cx="5457825" cy="316230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DDA55ABB-3DB1-10C1-D15B-6E7709799677}"/>
              </a:ext>
            </a:extLst>
          </p:cNvPr>
          <p:cNvSpPr txBox="1"/>
          <p:nvPr/>
        </p:nvSpPr>
        <p:spPr>
          <a:xfrm>
            <a:off x="832067" y="2237853"/>
            <a:ext cx="4627062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l-PL" dirty="0"/>
              <a:t>[1] Macierz odpowiedzialności (miejsce na prawdopodobieństwa). </a:t>
            </a:r>
            <a:endParaRPr lang="pl-PL"/>
          </a:p>
          <a:p>
            <a:pPr algn="just"/>
            <a:endParaRPr lang="pl-PL" dirty="0"/>
          </a:p>
          <a:p>
            <a:pPr algn="just"/>
            <a:r>
              <a:rPr lang="pl-PL" dirty="0"/>
              <a:t>[2] Obliczanie dopasowanie punktów do Gaussa dla każdego klastra. </a:t>
            </a:r>
            <a:endParaRPr lang="pl-PL"/>
          </a:p>
          <a:p>
            <a:pPr algn="just"/>
            <a:endParaRPr lang="pl-PL" dirty="0"/>
          </a:p>
          <a:p>
            <a:pPr algn="just"/>
            <a:r>
              <a:rPr lang="pl-PL" dirty="0"/>
              <a:t>[3] Mnożenie dopasowania przez wagę klastra </a:t>
            </a:r>
            <a:r>
              <a:rPr lang="el-GR" dirty="0"/>
              <a:t>π</a:t>
            </a:r>
            <a:r>
              <a:rPr lang="pl-PL" dirty="0"/>
              <a:t>ₖ. </a:t>
            </a:r>
          </a:p>
          <a:p>
            <a:pPr algn="just"/>
            <a:endParaRPr lang="pl-PL" dirty="0"/>
          </a:p>
          <a:p>
            <a:pPr algn="just"/>
            <a:r>
              <a:rPr lang="pl-PL" dirty="0"/>
              <a:t>[4] Zapisanie wyniku jako „siłę przynależności” punktu do klastra ( przed normalizacją). </a:t>
            </a:r>
          </a:p>
          <a:p>
            <a:pPr algn="just"/>
            <a:endParaRPr lang="pl-PL" dirty="0"/>
          </a:p>
          <a:p>
            <a:pPr algn="just"/>
            <a:r>
              <a:rPr lang="pl-PL" dirty="0"/>
              <a:t>[5] Normalizacja w każdym wierszu, żeby otrzymać prawdopodobieństwa </a:t>
            </a:r>
            <a:r>
              <a:rPr lang="el-GR" dirty="0"/>
              <a:t>γ</a:t>
            </a:r>
            <a:r>
              <a:rPr lang="pl-PL" dirty="0"/>
              <a:t>ₙₖ.</a:t>
            </a:r>
          </a:p>
        </p:txBody>
      </p:sp>
    </p:spTree>
    <p:extLst>
      <p:ext uri="{BB962C8B-B14F-4D97-AF65-F5344CB8AC3E}">
        <p14:creationId xmlns:p14="http://schemas.microsoft.com/office/powerpoint/2010/main" val="1587104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5EAC-CAA7-2AA2-33EB-32E1CD05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7DDEA1-1E52-D886-ADC0-BAB049851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M-step - implementacja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4927B1F-5E7A-1359-62E9-5E4AD2EDD0FF}"/>
              </a:ext>
            </a:extLst>
          </p:cNvPr>
          <p:cNvSpPr txBox="1"/>
          <p:nvPr/>
        </p:nvSpPr>
        <p:spPr>
          <a:xfrm>
            <a:off x="832067" y="2237853"/>
            <a:ext cx="4627062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l-PL" dirty="0"/>
              <a:t>[1] Sumowanie γₙₖ → dostaję „miękką liczbę punktów” w klastrze </a:t>
            </a:r>
            <a:r>
              <a:rPr lang="pl-PL" dirty="0" err="1"/>
              <a:t>Nk</a:t>
            </a:r>
            <a:r>
              <a:rPr lang="pl-PL" dirty="0"/>
              <a:t>.</a:t>
            </a:r>
            <a:endParaRPr lang="pl-PL"/>
          </a:p>
          <a:p>
            <a:pPr algn="just"/>
            <a:endParaRPr lang="pl-PL" dirty="0"/>
          </a:p>
          <a:p>
            <a:pPr algn="just"/>
            <a:r>
              <a:rPr lang="pl-PL"/>
              <a:t>[2] Obliczanie nowej średniej klastra jako średniej ważonej γₙₖ.</a:t>
            </a:r>
            <a:endParaRPr lang="en-US"/>
          </a:p>
          <a:p>
            <a:pPr algn="just"/>
            <a:endParaRPr lang="pl-PL" dirty="0"/>
          </a:p>
          <a:p>
            <a:pPr algn="just"/>
            <a:r>
              <a:rPr lang="pl-PL" dirty="0"/>
              <a:t>[3] Obliczanie odchylenia punktów od nowej średniej (potrzebne do obliczenia wariancji.</a:t>
            </a:r>
            <a:endParaRPr lang="en-US" dirty="0"/>
          </a:p>
          <a:p>
            <a:pPr algn="just"/>
            <a:endParaRPr lang="pl-PL" dirty="0"/>
          </a:p>
          <a:p>
            <a:pPr algn="just"/>
            <a:r>
              <a:rPr lang="pl-PL" dirty="0"/>
              <a:t>[4] Obliczanie nowej wariancji klastra jako ważoną wariancję.</a:t>
            </a:r>
            <a:endParaRPr lang="en-US" dirty="0"/>
          </a:p>
          <a:p>
            <a:pPr algn="just"/>
            <a:endParaRPr lang="pl-PL" dirty="0"/>
          </a:p>
          <a:p>
            <a:pPr algn="just"/>
            <a:r>
              <a:rPr lang="pl-PL"/>
              <a:t>[5] Aktualizacja wagi klastra πₖ = Nk / n.</a:t>
            </a:r>
            <a:endParaRPr lang="en-US"/>
          </a:p>
          <a:p>
            <a:pPr algn="just"/>
            <a:endParaRPr lang="pl-PL" dirty="0"/>
          </a:p>
        </p:txBody>
      </p:sp>
      <p:pic>
        <p:nvPicPr>
          <p:cNvPr id="6" name="Picture 5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BC584F2-6D8B-681C-79F5-DEEC58364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472" y="2554918"/>
            <a:ext cx="5618315" cy="30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7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0282-2AB6-8C46-0AA9-9403C7F4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noProof="1"/>
              <a:t>Zalety i zastosowania GMM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E13C-872E-308E-FAB5-023E061C6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352" y="1828800"/>
            <a:ext cx="5014612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l-PL" sz="2000" b="1"/>
              <a:t>Zalety:</a:t>
            </a:r>
            <a:endParaRPr lang="pl-PL" sz="2000"/>
          </a:p>
          <a:p>
            <a:pPr algn="just"/>
            <a:r>
              <a:rPr lang="pl-PL" sz="2000">
                <a:ea typeface="+mn-lt"/>
                <a:cs typeface="+mn-lt"/>
              </a:rPr>
              <a:t>Zwraca prawdopodobieństwo – zamiast sztywnej decyzji wiemy, na ile procent jesteśmy pewni wyniku.</a:t>
            </a:r>
          </a:p>
          <a:p>
            <a:pPr algn="just"/>
            <a:r>
              <a:rPr lang="pl-PL" sz="2000">
                <a:ea typeface="+mn-lt"/>
                <a:cs typeface="+mn-lt"/>
              </a:rPr>
              <a:t>Modeluje elipsoidalne kształty – dzięki macierzy kowariancji dopasowuje się do skośnych i rozciągniętych danych.</a:t>
            </a:r>
          </a:p>
          <a:p>
            <a:pPr algn="just"/>
            <a:r>
              <a:rPr lang="pl-PL" sz="2000">
                <a:ea typeface="+mn-lt"/>
                <a:cs typeface="+mn-lt"/>
              </a:rPr>
              <a:t>Obsługuje nakładanie się grup – radzi sobie tam, gdzie granice między klastrami są płynne.</a:t>
            </a:r>
            <a:endParaRPr lang="pl-PL" sz="2000"/>
          </a:p>
          <a:p>
            <a:pPr algn="just"/>
            <a:endParaRPr lang="pl-PL" sz="1700"/>
          </a:p>
          <a:p>
            <a:pPr algn="just"/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B0D98-A260-E39F-8D62-0A7098E22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2088" y="1828800"/>
            <a:ext cx="5316933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000" b="1" noProof="1"/>
              <a:t>Zastosowania:</a:t>
            </a:r>
            <a:endParaRPr lang="en-US" sz="2000" noProof="1"/>
          </a:p>
          <a:p>
            <a:pPr algn="just"/>
            <a:r>
              <a:rPr lang="en-US" sz="2000" noProof="1">
                <a:ea typeface="+mn-lt"/>
                <a:cs typeface="+mn-lt"/>
              </a:rPr>
              <a:t>Diagnostyka medyczna – klasyfikacja chorób i ocena ryzyka.</a:t>
            </a:r>
          </a:p>
          <a:p>
            <a:pPr algn="just"/>
            <a:r>
              <a:rPr lang="en-US" sz="2000" noProof="1">
                <a:ea typeface="+mn-lt"/>
                <a:cs typeface="+mn-lt"/>
              </a:rPr>
              <a:t>Wykrywanie anomalii – identyfikacja oszustw finansowych.</a:t>
            </a:r>
            <a:endParaRPr lang="en-US" sz="2000" noProof="1"/>
          </a:p>
          <a:p>
            <a:pPr algn="just"/>
            <a:r>
              <a:rPr lang="en-US" sz="2000" noProof="1">
                <a:ea typeface="+mn-lt"/>
                <a:cs typeface="+mn-lt"/>
              </a:rPr>
              <a:t>Biometria – systemy rozpoznawania mowy i weryfikacji głosu.</a:t>
            </a:r>
            <a:endParaRPr lang="en-US" sz="2000"/>
          </a:p>
          <a:p>
            <a:pPr algn="just"/>
            <a:r>
              <a:rPr lang="en-US" sz="2000" noProof="1">
                <a:ea typeface="+mn-lt"/>
                <a:cs typeface="+mn-lt"/>
              </a:rPr>
              <a:t>Przetwarzanie obrazu – segmentacja i oddzielanie tła od obiektu.</a:t>
            </a:r>
            <a:endParaRPr lang="en-US" sz="2000">
              <a:ea typeface="+mn-lt"/>
              <a:cs typeface="+mn-lt"/>
            </a:endParaRPr>
          </a:p>
          <a:p>
            <a:pPr marL="285750" indent="-285750" algn="just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72727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DB88-5C91-7B1B-8F23-A4723A1A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7B41-AE0A-6DA1-0C90-A00E71F3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755270" cy="845398"/>
          </a:xfrm>
        </p:spPr>
        <p:txBody>
          <a:bodyPr>
            <a:normAutofit/>
          </a:bodyPr>
          <a:lstStyle/>
          <a:p>
            <a:r>
              <a:rPr lang="en-US" sz="3600" b="1" i="1" noProof="1"/>
              <a:t>Porównanie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3808D-030A-66F3-222F-0059624EF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147" y="1348636"/>
            <a:ext cx="4680585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l-PL" sz="1900" b="1"/>
              <a:t>Własna implementacja GMM:</a:t>
            </a:r>
          </a:p>
          <a:p>
            <a:pPr marL="0" indent="0" algn="just">
              <a:buNone/>
            </a:pPr>
            <a:endParaRPr lang="pl-PL"/>
          </a:p>
          <a:p>
            <a:pPr algn="just"/>
            <a:endParaRPr lang="pl-PL" sz="1700"/>
          </a:p>
          <a:p>
            <a:pPr algn="just"/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2A5E5-B537-4D04-BAB4-CC857B755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7430" y="1348636"/>
            <a:ext cx="457581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b="1" noProof="1"/>
              <a:t>Sklearn GMM:</a:t>
            </a:r>
            <a:endParaRPr lang="en-US" sz="2100" noProof="1"/>
          </a:p>
          <a:p>
            <a:pPr marL="0" indent="0" algn="just">
              <a:buNone/>
            </a:pPr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108B6-D0BA-A90C-8409-ED2519CD7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31" y="1775064"/>
            <a:ext cx="5140569" cy="4106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05C65C-176D-FB6D-0833-0BAB4FD5F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87" y="1780924"/>
            <a:ext cx="5092212" cy="4117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8BF027-EB96-93B2-34AA-752DF45BC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472" y="5888929"/>
            <a:ext cx="5538069" cy="84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8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6B24-E5C1-E308-6BF5-1077A9931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noProof="1"/>
              <a:t>Użyte biblioteki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C4A2C-23FC-6243-F60D-4D7586449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7726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b="1" noProof="1">
                <a:ea typeface="+mn-lt"/>
                <a:cs typeface="+mn-lt"/>
              </a:rPr>
              <a:t>numpy</a:t>
            </a:r>
            <a:r>
              <a:rPr lang="en-US" noProof="1">
                <a:ea typeface="+mn-lt"/>
                <a:cs typeface="+mn-lt"/>
              </a:rPr>
              <a:t> – obliczenia numeryczne, praca na tablicach, implementacja uproszczonego GMM (średnie, wariancje, Gauss)</a:t>
            </a:r>
            <a:endParaRPr lang="en-US" noProof="1"/>
          </a:p>
          <a:p>
            <a:pPr algn="just">
              <a:buNone/>
            </a:pPr>
            <a:r>
              <a:rPr lang="en-US" b="1" noProof="1">
                <a:ea typeface="+mn-lt"/>
                <a:cs typeface="+mn-lt"/>
              </a:rPr>
              <a:t>matplotlib</a:t>
            </a:r>
            <a:r>
              <a:rPr lang="en-US" noProof="1">
                <a:ea typeface="+mn-lt"/>
                <a:cs typeface="+mn-lt"/>
              </a:rPr>
              <a:t> – generowanie wykresów i wizualizacja macierzy pomyłek</a:t>
            </a:r>
            <a:endParaRPr lang="en-US" noProof="1"/>
          </a:p>
          <a:p>
            <a:pPr algn="just">
              <a:buNone/>
            </a:pPr>
            <a:r>
              <a:rPr lang="en-US" b="1" noProof="1">
                <a:ea typeface="+mn-lt"/>
                <a:cs typeface="+mn-lt"/>
              </a:rPr>
              <a:t>scikit-learn</a:t>
            </a:r>
            <a:r>
              <a:rPr lang="en-US" noProof="1">
                <a:ea typeface="+mn-lt"/>
                <a:cs typeface="+mn-lt"/>
              </a:rPr>
              <a:t> (sklearn):</a:t>
            </a:r>
            <a:endParaRPr lang="en-US" noProof="1"/>
          </a:p>
          <a:p>
            <a:pPr lvl="3" algn="just">
              <a:buFont typeface="Wingdings" pitchFamily="34" charset="0"/>
              <a:buChar char="q"/>
            </a:pPr>
            <a:r>
              <a:rPr lang="en-US" sz="1800" spc="10" noProof="1">
                <a:solidFill>
                  <a:srgbClr val="000000"/>
                </a:solidFill>
                <a:ea typeface="+mn-lt"/>
                <a:cs typeface="+mn-lt"/>
              </a:rPr>
              <a:t>wczytanie danych - (load_breast_cancer)</a:t>
            </a:r>
          </a:p>
          <a:p>
            <a:pPr lvl="3" algn="just">
              <a:buFont typeface="Wingdings" pitchFamily="34" charset="0"/>
              <a:buChar char="q"/>
            </a:pPr>
            <a:r>
              <a:rPr lang="en-US" sz="1800" spc="10" noProof="1">
                <a:solidFill>
                  <a:srgbClr val="000000"/>
                </a:solidFill>
                <a:ea typeface="+mn-lt"/>
                <a:cs typeface="+mn-lt"/>
              </a:rPr>
              <a:t>podział na zbiory - (train_test_split)</a:t>
            </a:r>
            <a:endParaRPr lang="en-US" sz="1800" spc="10" noProof="1">
              <a:solidFill>
                <a:srgbClr val="000000"/>
              </a:solidFill>
            </a:endParaRPr>
          </a:p>
          <a:p>
            <a:pPr lvl="3" algn="just">
              <a:buFont typeface="Wingdings" pitchFamily="34" charset="0"/>
              <a:buChar char="q"/>
            </a:pPr>
            <a:r>
              <a:rPr lang="en-US" sz="1800" spc="10" noProof="1">
                <a:solidFill>
                  <a:srgbClr val="000000"/>
                </a:solidFill>
                <a:ea typeface="+mn-lt"/>
                <a:cs typeface="+mn-lt"/>
              </a:rPr>
              <a:t>standaryzacja - (StandardScaler)</a:t>
            </a:r>
          </a:p>
          <a:p>
            <a:pPr lvl="3" algn="just">
              <a:buFont typeface="Wingdings" pitchFamily="34" charset="0"/>
              <a:buChar char="q"/>
            </a:pPr>
            <a:r>
              <a:rPr lang="en-US" sz="1800" spc="10" noProof="1">
                <a:solidFill>
                  <a:srgbClr val="000000"/>
                </a:solidFill>
                <a:ea typeface="+mn-lt"/>
                <a:cs typeface="+mn-lt"/>
              </a:rPr>
              <a:t>metryki - (accuracy_score, confusion_matrix)</a:t>
            </a:r>
            <a:endParaRPr lang="en-US" sz="1800" spc="10" noProof="1">
              <a:solidFill>
                <a:srgbClr val="000000"/>
              </a:solidFill>
            </a:endParaRPr>
          </a:p>
          <a:p>
            <a:pPr lvl="3" algn="just">
              <a:buFont typeface="Wingdings"/>
              <a:buChar char="q"/>
            </a:pPr>
            <a:r>
              <a:rPr lang="en-US" sz="1800" spc="10" noProof="1">
                <a:solidFill>
                  <a:srgbClr val="000000"/>
                </a:solidFill>
                <a:ea typeface="+mn-lt"/>
                <a:cs typeface="+mn-lt"/>
              </a:rPr>
              <a:t>GaussianMixture - gotowy model do porównania z własną implementacją</a:t>
            </a:r>
            <a:endParaRPr lang="en-US" spc="10" noProof="1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n-US" b="1" noProof="1">
                <a:ea typeface="+mn-lt"/>
                <a:cs typeface="+mn-lt"/>
              </a:rPr>
              <a:t>scipy</a:t>
            </a:r>
            <a:r>
              <a:rPr lang="en-US" noProof="1">
                <a:ea typeface="+mn-lt"/>
                <a:cs typeface="+mn-lt"/>
              </a:rPr>
              <a:t> – funkcja mode, używana do mapowania klastrów na prawdziwe etykiety</a:t>
            </a:r>
          </a:p>
          <a:p>
            <a:pPr marL="0" indent="0" algn="just">
              <a:buNone/>
            </a:pPr>
            <a:r>
              <a:rPr lang="en-US" b="1" noProof="1">
                <a:ea typeface="+mn-lt"/>
                <a:cs typeface="+mn-lt"/>
              </a:rPr>
              <a:t>unittest</a:t>
            </a:r>
            <a:r>
              <a:rPr lang="en-US" noProof="1">
                <a:ea typeface="+mn-lt"/>
                <a:cs typeface="+mn-lt"/>
              </a:rPr>
              <a:t> – testy modelu</a:t>
            </a:r>
            <a:endParaRPr lang="en-US"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4966457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View</vt:lpstr>
      <vt:lpstr>Gaussian Mixture Model (GMM)</vt:lpstr>
      <vt:lpstr>Czym jest klasteryzacja?</vt:lpstr>
      <vt:lpstr>Czym jest Gaussian Mixture Model ?</vt:lpstr>
      <vt:lpstr>Jak działa GMM?</vt:lpstr>
      <vt:lpstr>Algorytm EM (Expectation-Maximization)</vt:lpstr>
      <vt:lpstr>E-step  - implementcja</vt:lpstr>
      <vt:lpstr>M-step - implementacja</vt:lpstr>
      <vt:lpstr>Zalety i zastosowania GMM</vt:lpstr>
      <vt:lpstr>Porównanie</vt:lpstr>
      <vt:lpstr>Użyte biblioteki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</cp:revision>
  <dcterms:created xsi:type="dcterms:W3CDTF">2025-11-25T17:18:22Z</dcterms:created>
  <dcterms:modified xsi:type="dcterms:W3CDTF">2025-12-04T17:17:48Z</dcterms:modified>
</cp:coreProperties>
</file>